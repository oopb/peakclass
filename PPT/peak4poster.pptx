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jpe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 userDrawn="1"/>
        </p:nvSpPr>
        <p:spPr>
          <a:xfrm>
            <a:off x="4357429" y="237490"/>
            <a:ext cx="3444757" cy="369570"/>
          </a:xfrm>
          <a:prstGeom prst="rect">
            <a:avLst/>
          </a:prstGeom>
        </p:spPr>
        <p:txBody>
          <a:bodyPr wrap="square" rtlCol="0">
            <a:noAutofit/>
          </a:bodyPr>
          <a:p>
            <a:pPr algn="ctr"/>
            <a:r>
              <a:rPr lang="zh-CN" altLang="en-US" sz="2400" b="1">
                <a:latin typeface="微软雅黑" charset="0"/>
                <a:ea typeface="微软雅黑" charset="0"/>
                <a:cs typeface="微软雅黑" charset="0"/>
              </a:rPr>
              <a:t>顶点课程期末答辩海报</a:t>
            </a:r>
            <a:endParaRPr lang="zh-CN" altLang="en-US" sz="2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3899456" y="644102"/>
            <a:ext cx="4397534" cy="33909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1400">
                <a:latin typeface="宋体" charset="0"/>
                <a:ea typeface="宋体" charset="0"/>
                <a:cs typeface="宋体" charset="0"/>
              </a:rPr>
              <a:t>22230608 </a:t>
            </a:r>
            <a:r>
              <a:rPr lang="zh-CN" altLang="en-US" sz="1400">
                <a:latin typeface="宋体" charset="0"/>
                <a:ea typeface="宋体" charset="0"/>
                <a:cs typeface="宋体" charset="0"/>
              </a:rPr>
              <a:t>范一泽 </a:t>
            </a:r>
            <a:r>
              <a:rPr lang="en-US" altLang="zh-CN" sz="1400">
                <a:latin typeface="宋体" charset="0"/>
                <a:ea typeface="宋体" charset="0"/>
                <a:cs typeface="宋体" charset="0"/>
              </a:rPr>
              <a:t>22230610 </a:t>
            </a:r>
            <a:r>
              <a:rPr lang="zh-CN" altLang="en-US" sz="1400">
                <a:latin typeface="宋体" charset="0"/>
                <a:ea typeface="宋体" charset="0"/>
                <a:cs typeface="宋体" charset="0"/>
              </a:rPr>
              <a:t>曹晨旭 </a:t>
            </a:r>
            <a:r>
              <a:rPr lang="en-US" altLang="zh-CN" sz="1400">
                <a:latin typeface="宋体" charset="0"/>
                <a:ea typeface="宋体" charset="0"/>
                <a:cs typeface="宋体" charset="0"/>
              </a:rPr>
              <a:t>22230616 </a:t>
            </a:r>
            <a:r>
              <a:rPr lang="zh-CN" altLang="en-US" sz="1400">
                <a:latin typeface="宋体" charset="0"/>
                <a:ea typeface="宋体" charset="0"/>
                <a:cs typeface="宋体" charset="0"/>
              </a:rPr>
              <a:t>黄勇鑫</a:t>
            </a:r>
            <a:endParaRPr lang="zh-CN" altLang="en-US" sz="1400"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4097020" y="2376488"/>
            <a:ext cx="3909060" cy="369570"/>
          </a:xfrm>
          <a:prstGeom prst="rect">
            <a:avLst/>
          </a:prstGeom>
        </p:spPr>
        <p:txBody>
          <a:bodyPr wrap="square" rtlCol="0">
            <a:noAutofit/>
          </a:bodyPr>
          <a:p>
            <a:pPr algn="ctr"/>
            <a:r>
              <a:rPr lang="zh-CN" altLang="en-US" sz="1600" b="1">
                <a:solidFill>
                  <a:srgbClr val="C00000"/>
                </a:solidFill>
              </a:rPr>
              <a:t>基于</a:t>
            </a:r>
            <a:r>
              <a:rPr lang="en-US" altLang="zh-CN" sz="1600" b="1">
                <a:solidFill>
                  <a:srgbClr val="C00000"/>
                </a:solidFill>
              </a:rPr>
              <a:t>MedChatZH</a:t>
            </a:r>
            <a:r>
              <a:rPr lang="zh-CN" altLang="en-US" sz="1600" b="1">
                <a:solidFill>
                  <a:srgbClr val="C00000"/>
                </a:solidFill>
              </a:rPr>
              <a:t>数据集的指令微调</a:t>
            </a:r>
            <a:endParaRPr lang="en-US" altLang="zh-CN" sz="1600" b="1">
              <a:solidFill>
                <a:srgbClr val="C00000"/>
              </a:solidFill>
            </a:endParaRPr>
          </a:p>
        </p:txBody>
      </p:sp>
      <p:pic>
        <p:nvPicPr>
          <p:cNvPr id="10" name="图片 9" descr="post_object_image_115083147"/>
          <p:cNvPicPr>
            <a:picLocks noChangeAspect="1"/>
          </p:cNvPicPr>
          <p:nvPr/>
        </p:nvPicPr>
        <p:blipFill>
          <a:blip r:embed="rId1"/>
          <a:srcRect l="4685" t="3860" r="4618" b="5098"/>
          <a:stretch>
            <a:fillRect/>
          </a:stretch>
        </p:blipFill>
        <p:spPr>
          <a:xfrm>
            <a:off x="62648" y="12530"/>
            <a:ext cx="965030" cy="970641"/>
          </a:xfrm>
          <a:prstGeom prst="rect">
            <a:avLst/>
          </a:prstGeom>
        </p:spPr>
      </p:pic>
      <p:pic>
        <p:nvPicPr>
          <p:cNvPr id="12" name="图片 11" descr="post_object_image_36488631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516" y="1224174"/>
            <a:ext cx="10282" cy="5530603"/>
          </a:xfrm>
          <a:prstGeom prst="rect">
            <a:avLst/>
          </a:prstGeom>
        </p:spPr>
      </p:pic>
      <p:pic>
        <p:nvPicPr>
          <p:cNvPr id="13" name="图片 12" descr="post_object_image_1305017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923" y="1224153"/>
            <a:ext cx="10282" cy="5530648"/>
          </a:xfrm>
          <a:prstGeom prst="rect">
            <a:avLst/>
          </a:prstGeom>
        </p:spPr>
      </p:pic>
      <p:pic>
        <p:nvPicPr>
          <p:cNvPr id="14" name="图片 13" descr="post_object_image_138250948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6" y="1020771"/>
            <a:ext cx="12071317" cy="10282"/>
          </a:xfrm>
          <a:prstGeom prst="rect">
            <a:avLst/>
          </a:prstGeom>
        </p:spPr>
      </p:pic>
      <p:sp>
        <p:nvSpPr>
          <p:cNvPr id="15" name="文本框 14"/>
          <p:cNvSpPr txBox="1"/>
          <p:nvPr userDrawn="1"/>
        </p:nvSpPr>
        <p:spPr>
          <a:xfrm>
            <a:off x="72178" y="983140"/>
            <a:ext cx="3743617" cy="847009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C00000"/>
                </a:solidFill>
              </a:rPr>
              <a:t>SSSKV</a:t>
            </a:r>
            <a:r>
              <a:rPr lang="zh-CN" altLang="en-US" b="1">
                <a:solidFill>
                  <a:srgbClr val="C00000"/>
                </a:solidFill>
              </a:rPr>
              <a:t>-</a:t>
            </a:r>
            <a:r>
              <a:rPr lang="en-US" altLang="zh-CN" b="1">
                <a:solidFill>
                  <a:srgbClr val="C00000"/>
                </a:solidFill>
              </a:rPr>
              <a:t>lite </a:t>
            </a:r>
            <a:r>
              <a:rPr lang="zh-CN" altLang="en-US" b="1">
                <a:solidFill>
                  <a:srgbClr val="C00000"/>
                </a:solidFill>
              </a:rPr>
              <a:t>推理框架优化</a:t>
            </a:r>
            <a:r>
              <a:rPr lang="en-US" altLang="zh-CN" b="1">
                <a:solidFill>
                  <a:srgbClr val="C00000"/>
                </a:solidFill>
              </a:rPr>
              <a:t>:</a:t>
            </a:r>
            <a:endParaRPr lang="en-US" altLang="zh-CN" b="1">
              <a:solidFill>
                <a:srgbClr val="C00000"/>
              </a:solidFill>
            </a:endParaRPr>
          </a:p>
          <a:p>
            <a:r>
              <a:rPr lang="en-US" altLang="zh-CN" sz="1600" b="1">
                <a:solidFill>
                  <a:srgbClr val="C00000"/>
                </a:solidFill>
              </a:rPr>
              <a:t>StreamingSummarySnapKV-lite</a:t>
            </a:r>
            <a:endParaRPr lang="en-US" altLang="zh-CN" sz="1600" b="1">
              <a:solidFill>
                <a:srgbClr val="C00000"/>
              </a:solidFill>
            </a:endParaRPr>
          </a:p>
          <a:p>
            <a:r>
              <a:rPr lang="zh-CN" altLang="en-US" sz="1600" b="1">
                <a:solidFill>
                  <a:srgbClr val="C00000"/>
                </a:solidFill>
              </a:rPr>
              <a:t>稀疏</a:t>
            </a:r>
            <a:r>
              <a:rPr lang="zh-CN" altLang="en-US" sz="1600" b="1">
                <a:solidFill>
                  <a:srgbClr val="C00000"/>
                </a:solidFill>
                <a:cs typeface="Arial" panose="020B0604020202020204" pitchFamily="34" charset="0"/>
              </a:rPr>
              <a:t>注意力+</a:t>
            </a:r>
            <a:r>
              <a:rPr lang="en-US" altLang="zh-CN" sz="1600" b="1">
                <a:solidFill>
                  <a:srgbClr val="C00000"/>
                </a:solidFill>
                <a:cs typeface="Arial" panose="020B0604020202020204" pitchFamily="34" charset="0"/>
              </a:rPr>
              <a:t>KVcache</a:t>
            </a:r>
            <a:r>
              <a:rPr lang="zh-CN" altLang="en-US" sz="1600" b="1">
                <a:solidFill>
                  <a:srgbClr val="C00000"/>
                </a:solidFill>
                <a:cs typeface="Arial" panose="020B0604020202020204" pitchFamily="34" charset="0"/>
              </a:rPr>
              <a:t>优化+</a:t>
            </a:r>
            <a:r>
              <a:rPr lang="en-US" altLang="zh-CN" sz="1600" b="1">
                <a:solidFill>
                  <a:srgbClr val="C00000"/>
                </a:solidFill>
                <a:cs typeface="Arial" panose="020B0604020202020204" pitchFamily="34" charset="0"/>
              </a:rPr>
              <a:t>KV</a:t>
            </a:r>
            <a:r>
              <a:rPr lang="zh-CN" altLang="en-US" sz="1600" b="1">
                <a:solidFill>
                  <a:srgbClr val="C00000"/>
                </a:solidFill>
                <a:cs typeface="Arial" panose="020B0604020202020204" pitchFamily="34" charset="0"/>
              </a:rPr>
              <a:t>量化</a:t>
            </a:r>
            <a:endParaRPr lang="en-US" altLang="zh-CN" sz="1600" b="1">
              <a:solidFill>
                <a:srgbClr val="C00000"/>
              </a:solidFill>
            </a:endParaRPr>
          </a:p>
        </p:txBody>
      </p:sp>
      <p:pic>
        <p:nvPicPr>
          <p:cNvPr id="16" name="图片 15" descr="post_object_image_27776545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694" y="2744893"/>
            <a:ext cx="3891384" cy="99456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7020" y="3832984"/>
            <a:ext cx="2275953" cy="1401215"/>
          </a:xfrm>
          <a:prstGeom prst="rect">
            <a:avLst/>
          </a:prstGeom>
        </p:spPr>
      </p:pic>
      <p:sp>
        <p:nvSpPr>
          <p:cNvPr id="21" name="文本框 20"/>
          <p:cNvSpPr txBox="1"/>
          <p:nvPr userDrawn="1"/>
        </p:nvSpPr>
        <p:spPr>
          <a:xfrm>
            <a:off x="4205780" y="5234199"/>
            <a:ext cx="1641337" cy="27813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120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Figure 1</a:t>
            </a:r>
            <a:r>
              <a:rPr lang="en-US" altLang="zh-CN" sz="1200">
                <a:cs typeface="Arial" panose="020B0604020202020204" pitchFamily="34" charset="0"/>
              </a:rPr>
              <a:t> </a:t>
            </a:r>
            <a:r>
              <a:rPr lang="zh-CN" altLang="en-US" sz="1200">
                <a:cs typeface="Arial" panose="020B0604020202020204" pitchFamily="34" charset="0"/>
              </a:rPr>
              <a:t>微调</a:t>
            </a:r>
            <a:r>
              <a:rPr lang="en-US" altLang="zh-CN" sz="1200">
                <a:cs typeface="Arial" panose="020B0604020202020204" pitchFamily="34" charset="0"/>
              </a:rPr>
              <a:t>loss</a:t>
            </a:r>
            <a:r>
              <a:rPr lang="zh-CN" altLang="en-US" sz="1200">
                <a:cs typeface="Arial" panose="020B0604020202020204" pitchFamily="34" charset="0"/>
              </a:rPr>
              <a:t>变化</a:t>
            </a:r>
            <a:endParaRPr lang="zh-CN" altLang="en-US" sz="1200"/>
          </a:p>
        </p:txBody>
      </p:sp>
      <p:sp>
        <p:nvSpPr>
          <p:cNvPr id="29" name="文本框 28"/>
          <p:cNvSpPr txBox="1"/>
          <p:nvPr userDrawn="1"/>
        </p:nvSpPr>
        <p:spPr>
          <a:xfrm>
            <a:off x="62616" y="1830149"/>
            <a:ext cx="3772986" cy="914766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solidFill>
              <a:srgbClr val="000000">
                <a:alpha val="100000"/>
              </a:srgbClr>
            </a:solidFill>
          </a:ln>
        </p:spPr>
        <p:txBody>
          <a:bodyPr wrap="square" rtlCol="0">
            <a:noAutofit/>
          </a:bodyPr>
          <a:p>
            <a:r>
              <a:rPr lang="en-US" altLang="zh-CN" sz="1400"/>
              <a:t>1. </a:t>
            </a:r>
            <a:r>
              <a:rPr lang="zh-CN" altLang="en-US" sz="1400"/>
              <a:t>三段式连续上下文</a:t>
            </a:r>
            <a:endParaRPr lang="zh-CN" altLang="en-US" sz="1400"/>
          </a:p>
          <a:p>
            <a:r>
              <a:rPr lang="zh-CN" altLang="en-US" sz="1400"/>
              <a:t>（</a:t>
            </a:r>
            <a:r>
              <a:rPr lang="en-US" altLang="zh-CN" sz="1400"/>
              <a:t>Prefix / Summary / Recent</a:t>
            </a:r>
            <a:r>
              <a:rPr lang="zh-CN" altLang="en-US" sz="1400"/>
              <a:t>）</a:t>
            </a:r>
            <a:endParaRPr lang="en-US" altLang="zh-CN" sz="1400"/>
          </a:p>
          <a:p>
            <a:r>
              <a:rPr lang="zh-CN" altLang="en-US" sz="1000"/>
              <a:t>通过连续块重组</a:t>
            </a:r>
            <a:r>
              <a:rPr lang="zh-CN" altLang="en-US" sz="1000" b="1"/>
              <a:t>系统提示</a:t>
            </a:r>
            <a:r>
              <a:rPr lang="zh-CN" altLang="en-US" sz="1000"/>
              <a:t>、</a:t>
            </a:r>
            <a:r>
              <a:rPr lang="zh-CN" altLang="en-US" sz="1000" b="1"/>
              <a:t>长期摘要</a:t>
            </a:r>
            <a:r>
              <a:rPr lang="zh-CN" altLang="en-US" sz="1000"/>
              <a:t>与</a:t>
            </a:r>
            <a:r>
              <a:rPr lang="zh-CN" altLang="en-US" sz="1000" b="1"/>
              <a:t>短期对话</a:t>
            </a:r>
            <a:r>
              <a:rPr lang="zh-CN" altLang="en-US" sz="1000"/>
              <a:t>，在控制</a:t>
            </a:r>
            <a:r>
              <a:rPr lang="en-US" altLang="zh-CN" sz="1000"/>
              <a:t> KV </a:t>
            </a:r>
            <a:r>
              <a:rPr lang="zh-CN" altLang="en-US" sz="1000"/>
              <a:t>规模的同时保持语义连续性。</a:t>
            </a:r>
            <a:endParaRPr lang="zh-CN" altLang="en-US" sz="1000"/>
          </a:p>
          <a:p>
            <a:endParaRPr lang="zh-CN" altLang="en-US" sz="1000"/>
          </a:p>
        </p:txBody>
      </p:sp>
      <p:pic>
        <p:nvPicPr>
          <p:cNvPr id="31" name="图片 30" descr="post_object_image_414298600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8704" y="4105804"/>
            <a:ext cx="1494256" cy="873495"/>
          </a:xfrm>
          <a:prstGeom prst="rect">
            <a:avLst/>
          </a:prstGeom>
        </p:spPr>
      </p:pic>
      <p:sp>
        <p:nvSpPr>
          <p:cNvPr id="32" name="文本框 31"/>
          <p:cNvSpPr txBox="1"/>
          <p:nvPr userDrawn="1"/>
        </p:nvSpPr>
        <p:spPr>
          <a:xfrm>
            <a:off x="6603294" y="5234199"/>
            <a:ext cx="1385112" cy="27813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120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Figure 2</a:t>
            </a:r>
            <a:r>
              <a:rPr lang="en-US" altLang="zh-CN" sz="1200"/>
              <a:t> </a:t>
            </a:r>
            <a:r>
              <a:rPr lang="zh-CN" altLang="en-US" sz="1200"/>
              <a:t>关键参数</a:t>
            </a:r>
            <a:endParaRPr lang="zh-CN" altLang="en-US" sz="1200"/>
          </a:p>
        </p:txBody>
      </p:sp>
      <p:grpSp>
        <p:nvGrpSpPr>
          <p:cNvPr id="44" name="组合 43"/>
          <p:cNvGrpSpPr/>
          <p:nvPr userDrawn="1"/>
        </p:nvGrpSpPr>
        <p:grpSpPr>
          <a:xfrm>
            <a:off x="8193723" y="4500351"/>
            <a:ext cx="3829685" cy="2076344"/>
            <a:chOff x="12750" y="4580"/>
            <a:chExt cx="6031" cy="3270"/>
          </a:xfrm>
        </p:grpSpPr>
        <p:pic>
          <p:nvPicPr>
            <p:cNvPr id="35" name="图片 34" descr="post_object_image_322829826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880" y="5162"/>
              <a:ext cx="5786" cy="2241"/>
            </a:xfrm>
            <a:prstGeom prst="rect">
              <a:avLst/>
            </a:prstGeom>
          </p:spPr>
        </p:pic>
        <p:sp>
          <p:nvSpPr>
            <p:cNvPr id="36" name="文本框 35"/>
            <p:cNvSpPr txBox="1"/>
            <p:nvPr userDrawn="1"/>
          </p:nvSpPr>
          <p:spPr>
            <a:xfrm>
              <a:off x="12750" y="7412"/>
              <a:ext cx="6031" cy="438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110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</a:rPr>
                <a:t>Table</a:t>
              </a:r>
              <a:r>
                <a:rPr lang="en-US" altLang="zh-CN" sz="1100"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</a:rPr>
                <a:t> 1</a:t>
              </a:r>
              <a:r>
                <a:rPr lang="en-US" altLang="zh-CN" sz="1100">
                  <a:cs typeface="Arial" panose="020B0604020202020204" pitchFamily="34" charset="0"/>
                </a:rPr>
                <a:t> </a:t>
              </a:r>
              <a:r>
                <a:rPr lang="zh-CN" altLang="en-US" sz="1000">
                  <a:cs typeface="Arial" panose="020B0604020202020204" pitchFamily="34" charset="0"/>
                </a:rPr>
                <a:t>各方法在</a:t>
              </a:r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</a:rPr>
                <a:t>Llama</a:t>
              </a:r>
              <a:r>
                <a:rPr lang="zh-CN" altLang="en-US" sz="1000">
                  <a:solidFill>
                    <a:schemeClr val="tx1"/>
                  </a:solidFill>
                  <a:cs typeface="Arial" panose="020B0604020202020204" pitchFamily="34" charset="0"/>
                </a:rPr>
                <a:t>模型上不同上下文长度的</a:t>
              </a:r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</a:rPr>
                <a:t>prefill</a:t>
              </a:r>
              <a:r>
                <a:rPr lang="zh-CN" altLang="en-US" sz="1000">
                  <a:solidFill>
                    <a:schemeClr val="tx1"/>
                  </a:solidFill>
                  <a:cs typeface="Arial" panose="020B0604020202020204" pitchFamily="34" charset="0"/>
                </a:rPr>
                <a:t>延迟和最大显存占用</a:t>
              </a:r>
              <a:endParaRPr lang="en-US" altLang="zh-CN" sz="1000">
                <a:cs typeface="Arial" panose="020B0604020202020204" pitchFamily="34" charset="0"/>
              </a:endParaRPr>
            </a:p>
          </p:txBody>
        </p:sp>
        <p:sp>
          <p:nvSpPr>
            <p:cNvPr id="37" name="文本框 36"/>
            <p:cNvSpPr txBox="1"/>
            <p:nvPr userDrawn="1"/>
          </p:nvSpPr>
          <p:spPr>
            <a:xfrm>
              <a:off x="13035" y="4580"/>
              <a:ext cx="5476" cy="582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1600" b="1">
                  <a:solidFill>
                    <a:srgbClr val="C00000"/>
                  </a:solidFill>
                </a:rPr>
                <a:t>对KV cache</a:t>
              </a:r>
              <a:r>
                <a:rPr lang="zh-CN" altLang="en-US" sz="1600" b="1">
                  <a:solidFill>
                    <a:srgbClr val="C00000"/>
                  </a:solidFill>
                </a:rPr>
                <a:t>优化方法的调研与评估</a:t>
              </a:r>
              <a:endParaRPr lang="en-US" altLang="zh-CN"/>
            </a:p>
          </p:txBody>
        </p:sp>
      </p:grpSp>
      <p:pic>
        <p:nvPicPr>
          <p:cNvPr id="40" name="图片 39" descr="post_object_image_173011206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757886"/>
            <a:ext cx="3848099" cy="2100135"/>
          </a:xfrm>
          <a:prstGeom prst="rect">
            <a:avLst/>
          </a:prstGeom>
        </p:spPr>
      </p:pic>
      <p:sp>
        <p:nvSpPr>
          <p:cNvPr id="41" name="文本框 40"/>
          <p:cNvSpPr txBox="1"/>
          <p:nvPr userDrawn="1"/>
        </p:nvSpPr>
        <p:spPr>
          <a:xfrm>
            <a:off x="62616" y="2744915"/>
            <a:ext cx="1110736" cy="190263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solidFill>
              <a:srgbClr val="000000">
                <a:alpha val="100000"/>
              </a:srgbClr>
            </a:solidFill>
          </a:ln>
        </p:spPr>
        <p:txBody>
          <a:bodyPr wrap="square" rtlCol="0">
            <a:noAutofit/>
          </a:bodyPr>
          <a:p>
            <a:r>
              <a:rPr lang="en-US" altLang="zh-CN" sz="1400"/>
              <a:t>2. </a:t>
            </a:r>
            <a:r>
              <a:rPr lang="zh-CN" altLang="en-US" sz="1400"/>
              <a:t>长期记忆压缩</a:t>
            </a:r>
            <a:endParaRPr lang="zh-CN" altLang="en-US" sz="1400"/>
          </a:p>
          <a:p>
            <a:endParaRPr lang="zh-CN" altLang="en-US" sz="1000"/>
          </a:p>
          <a:p>
            <a:r>
              <a:rPr lang="en-US" altLang="zh-CN" sz="1000" b="1"/>
              <a:t>StreamingLLM</a:t>
            </a:r>
            <a:r>
              <a:rPr lang="zh-CN" altLang="en-US" sz="1000"/>
              <a:t>的基础上，以语义</a:t>
            </a:r>
            <a:r>
              <a:rPr lang="zh-CN" altLang="en-US" sz="1000" b="1"/>
              <a:t>摘要</a:t>
            </a:r>
            <a:r>
              <a:rPr lang="zh-CN" altLang="en-US" sz="1000"/>
              <a:t>替代被滑窗裁剪的历史内容，实现有限</a:t>
            </a:r>
            <a:r>
              <a:rPr lang="en-US" altLang="zh-CN" sz="1000"/>
              <a:t> KV </a:t>
            </a:r>
            <a:r>
              <a:rPr lang="zh-CN" altLang="en-US" sz="1000"/>
              <a:t>条件下的长期对话记忆。</a:t>
            </a:r>
            <a:endParaRPr lang="zh-CN" altLang="en-US" sz="1000"/>
          </a:p>
          <a:p>
            <a:endParaRPr lang="zh-CN" altLang="en-US" sz="1000"/>
          </a:p>
        </p:txBody>
      </p:sp>
      <p:sp>
        <p:nvSpPr>
          <p:cNvPr id="42" name="文本框 41"/>
          <p:cNvSpPr txBox="1"/>
          <p:nvPr userDrawn="1"/>
        </p:nvSpPr>
        <p:spPr>
          <a:xfrm>
            <a:off x="1173352" y="2744915"/>
            <a:ext cx="1587808" cy="190263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solidFill>
              <a:srgbClr val="000000">
                <a:alpha val="100000"/>
              </a:srgbClr>
            </a:solidFill>
          </a:ln>
        </p:spPr>
        <p:txBody>
          <a:bodyPr wrap="square" rtlCol="0">
            <a:noAutofit/>
          </a:bodyPr>
          <a:p>
            <a:r>
              <a:rPr lang="en-US" altLang="zh-CN" sz="1400"/>
              <a:t>3. </a:t>
            </a:r>
            <a:r>
              <a:rPr lang="zh-CN" altLang="en-US" sz="1400"/>
              <a:t>面向</a:t>
            </a:r>
            <a:r>
              <a:rPr lang="en-US" altLang="zh-CN" sz="1400"/>
              <a:t> CPU </a:t>
            </a:r>
            <a:r>
              <a:rPr lang="zh-CN" altLang="en-US" sz="1400"/>
              <a:t>的</a:t>
            </a:r>
            <a:r>
              <a:rPr lang="en-US" altLang="zh-CN" sz="1400"/>
              <a:t> SnapKV-lite </a:t>
            </a:r>
            <a:r>
              <a:rPr lang="zh-CN" altLang="en-US" sz="1400"/>
              <a:t>实现</a:t>
            </a:r>
            <a:endParaRPr lang="en-US" altLang="zh-CN" sz="1400"/>
          </a:p>
          <a:p>
            <a:endParaRPr lang="zh-CN" altLang="en-US" sz="1000">
              <a:solidFill>
                <a:schemeClr val="tx1"/>
              </a:solidFill>
            </a:endParaRPr>
          </a:p>
          <a:p>
            <a:r>
              <a:rPr lang="zh-CN" altLang="en-US" sz="1000">
                <a:solidFill>
                  <a:schemeClr val="tx1"/>
                </a:solidFill>
              </a:rPr>
              <a:t>启发式</a:t>
            </a:r>
            <a:r>
              <a:rPr lang="zh-CN" altLang="en-US" sz="1000" b="1">
                <a:solidFill>
                  <a:schemeClr val="tx1"/>
                </a:solidFill>
              </a:rPr>
              <a:t>稀疏注意力</a:t>
            </a:r>
            <a:r>
              <a:rPr lang="zh-CN" altLang="en-US" sz="1000">
                <a:solidFill>
                  <a:schemeClr val="tx1"/>
                </a:solidFill>
              </a:rPr>
              <a:t>方法的</a:t>
            </a:r>
            <a:r>
              <a:rPr lang="en-US" altLang="zh-CN" sz="1000"/>
              <a:t> KVsparsing + </a:t>
            </a:r>
            <a:r>
              <a:rPr lang="zh-CN" altLang="en-US" sz="1000"/>
              <a:t>低频重建，替代</a:t>
            </a:r>
            <a:r>
              <a:rPr lang="en-US" altLang="zh-CN" sz="1000"/>
              <a:t> token </a:t>
            </a:r>
            <a:r>
              <a:rPr lang="zh-CN" altLang="en-US" sz="1000"/>
              <a:t>级稀疏</a:t>
            </a:r>
            <a:r>
              <a:rPr lang="en-US" altLang="zh-CN" sz="1000"/>
              <a:t> KV</a:t>
            </a:r>
            <a:r>
              <a:rPr lang="zh-CN" altLang="en-US" sz="1000"/>
              <a:t>，在</a:t>
            </a:r>
            <a:r>
              <a:rPr lang="en-US" altLang="zh-CN" sz="1000"/>
              <a:t> Android CPU </a:t>
            </a:r>
            <a:r>
              <a:rPr lang="zh-CN" altLang="en-US" sz="1000"/>
              <a:t>上稳定实现</a:t>
            </a:r>
            <a:r>
              <a:rPr lang="en-US" altLang="zh-CN" sz="1000"/>
              <a:t> SnapKV </a:t>
            </a:r>
            <a:r>
              <a:rPr lang="zh-CN" altLang="en-US" sz="1000"/>
              <a:t>效果。</a:t>
            </a:r>
            <a:endParaRPr lang="zh-CN" altLang="en-US" sz="1000"/>
          </a:p>
        </p:txBody>
      </p:sp>
      <p:sp>
        <p:nvSpPr>
          <p:cNvPr id="43" name="文本框 42"/>
          <p:cNvSpPr txBox="1"/>
          <p:nvPr userDrawn="1"/>
        </p:nvSpPr>
        <p:spPr>
          <a:xfrm>
            <a:off x="2761160" y="2744915"/>
            <a:ext cx="1074441" cy="190263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solidFill>
              <a:srgbClr val="000000">
                <a:alpha val="100000"/>
              </a:srgbClr>
            </a:solidFill>
          </a:ln>
        </p:spPr>
        <p:txBody>
          <a:bodyPr wrap="square" rtlCol="0">
            <a:noAutofit/>
          </a:bodyPr>
          <a:p>
            <a:r>
              <a:rPr lang="en-US" altLang="zh-CN" sz="1400"/>
              <a:t>4.</a:t>
            </a:r>
            <a:r>
              <a:rPr lang="zh-CN" altLang="en-US" sz="1400"/>
              <a:t> </a:t>
            </a:r>
            <a:r>
              <a:rPr lang="en-US" altLang="zh-CN" sz="1400"/>
              <a:t>KV</a:t>
            </a:r>
            <a:r>
              <a:rPr lang="zh-CN" altLang="en-US" sz="1400"/>
              <a:t>量化策略</a:t>
            </a:r>
            <a:endParaRPr lang="zh-CN" altLang="en-US" sz="1400"/>
          </a:p>
          <a:p>
            <a:endParaRPr lang="zh-CN" altLang="en-US" sz="1000"/>
          </a:p>
          <a:p>
            <a:r>
              <a:rPr lang="zh-CN" altLang="en-US" sz="1000"/>
              <a:t>摘要生成在独立小上下文、低比特</a:t>
            </a:r>
            <a:r>
              <a:rPr lang="en-US" altLang="zh-CN" sz="1000"/>
              <a:t>(Q4_0)</a:t>
            </a:r>
            <a:r>
              <a:rPr lang="en-US" altLang="zh-CN" sz="1000" b="1"/>
              <a:t>KV</a:t>
            </a:r>
            <a:r>
              <a:rPr lang="zh-CN" altLang="en-US" sz="1000" b="1"/>
              <a:t>量化</a:t>
            </a:r>
            <a:r>
              <a:rPr lang="zh-CN" altLang="en-US" sz="1000"/>
              <a:t>的</a:t>
            </a:r>
            <a:r>
              <a:rPr lang="en-US" altLang="zh-CN" sz="1000"/>
              <a:t> context </a:t>
            </a:r>
            <a:r>
              <a:rPr lang="zh-CN" altLang="en-US" sz="1000"/>
              <a:t>中完成，避免干扰主推理流程。</a:t>
            </a:r>
            <a:endParaRPr lang="zh-CN" altLang="en-US" sz="1000"/>
          </a:p>
        </p:txBody>
      </p:sp>
      <p:pic>
        <p:nvPicPr>
          <p:cNvPr id="46" name="图片 45" descr="post_object_image_114452578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6957" y="1073785"/>
            <a:ext cx="1334014" cy="2974943"/>
          </a:xfrm>
          <a:prstGeom prst="rect">
            <a:avLst/>
          </a:prstGeom>
        </p:spPr>
      </p:pic>
      <p:pic>
        <p:nvPicPr>
          <p:cNvPr id="48" name="图片 47" descr="post_object_image_2077632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51607" y="1073753"/>
            <a:ext cx="1308376" cy="2917793"/>
          </a:xfrm>
          <a:prstGeom prst="rect">
            <a:avLst/>
          </a:prstGeom>
        </p:spPr>
      </p:pic>
      <p:sp>
        <p:nvSpPr>
          <p:cNvPr id="50" name="文本框 49"/>
          <p:cNvSpPr txBox="1"/>
          <p:nvPr userDrawn="1"/>
        </p:nvSpPr>
        <p:spPr>
          <a:xfrm>
            <a:off x="4205817" y="5512329"/>
            <a:ext cx="3764809" cy="369570"/>
          </a:xfrm>
          <a:prstGeom prst="rect">
            <a:avLst/>
          </a:prstGeom>
        </p:spPr>
        <p:txBody>
          <a:bodyPr wrap="square" rtlCol="0">
            <a:noAutofit/>
          </a:bodyPr>
          <a:p>
            <a:pPr algn="ctr"/>
            <a:r>
              <a:rPr lang="zh-CN" altLang="en-US" sz="1600" b="1">
                <a:solidFill>
                  <a:srgbClr val="C00000"/>
                </a:solidFill>
              </a:rPr>
              <a:t>不同</a:t>
            </a:r>
            <a:r>
              <a:rPr lang="zh-CN" altLang="en-US" sz="1600" b="1">
                <a:solidFill>
                  <a:srgbClr val="C00000"/>
                </a:solidFill>
                <a:cs typeface="Arial" panose="020B0604020202020204" pitchFamily="34" charset="0"/>
              </a:rPr>
              <a:t>量化</a:t>
            </a:r>
            <a:r>
              <a:rPr lang="zh-CN" altLang="en-US" sz="1600" b="1">
                <a:solidFill>
                  <a:srgbClr val="C00000"/>
                </a:solidFill>
              </a:rPr>
              <a:t>方法的评估</a:t>
            </a:r>
            <a:endParaRPr lang="en-US" altLang="zh-CN"/>
          </a:p>
        </p:txBody>
      </p:sp>
      <p:sp>
        <p:nvSpPr>
          <p:cNvPr id="51" name="文本框 50"/>
          <p:cNvSpPr txBox="1"/>
          <p:nvPr userDrawn="1"/>
        </p:nvSpPr>
        <p:spPr>
          <a:xfrm>
            <a:off x="8193723" y="4105804"/>
            <a:ext cx="1927087" cy="27813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120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Figure 3</a:t>
            </a:r>
            <a:r>
              <a:rPr lang="en-US" altLang="zh-CN" sz="1200">
                <a:cs typeface="Arial" panose="020B0604020202020204" pitchFamily="34" charset="0"/>
              </a:rPr>
              <a:t> </a:t>
            </a:r>
            <a:r>
              <a:rPr lang="en-US" altLang="zh-CN" sz="1200">
                <a:solidFill>
                  <a:schemeClr val="tx1"/>
                </a:solidFill>
                <a:cs typeface="Arial" panose="020B0604020202020204" pitchFamily="34" charset="0"/>
              </a:rPr>
              <a:t>app界面-bench</a:t>
            </a:r>
            <a:endParaRPr lang="en-US" altLang="zh-CN">
              <a:cs typeface="Arial" panose="020B0604020202020204" pitchFamily="34" charset="0"/>
            </a:endParaRPr>
          </a:p>
        </p:txBody>
      </p:sp>
      <p:sp>
        <p:nvSpPr>
          <p:cNvPr id="52" name="文本框 51"/>
          <p:cNvSpPr txBox="1"/>
          <p:nvPr userDrawn="1"/>
        </p:nvSpPr>
        <p:spPr>
          <a:xfrm>
            <a:off x="10281952" y="4105804"/>
            <a:ext cx="1735529" cy="27813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120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Figure 4</a:t>
            </a:r>
            <a:r>
              <a:rPr lang="en-US" altLang="zh-CN" sz="1200">
                <a:cs typeface="Arial" panose="020B0604020202020204" pitchFamily="34" charset="0"/>
              </a:rPr>
              <a:t> </a:t>
            </a:r>
            <a:r>
              <a:rPr lang="en-US" altLang="zh-CN" sz="1200">
                <a:solidFill>
                  <a:schemeClr val="tx1"/>
                </a:solidFill>
                <a:cs typeface="Arial" panose="020B0604020202020204" pitchFamily="34" charset="0"/>
              </a:rPr>
              <a:t>app界面-对话</a:t>
            </a:r>
            <a:endParaRPr lang="en-US" altLang="zh-CN">
              <a:cs typeface="Arial" panose="020B0604020202020204" pitchFamily="34" charset="0"/>
            </a:endParaRPr>
          </a:p>
        </p:txBody>
      </p:sp>
      <p:pic>
        <p:nvPicPr>
          <p:cNvPr id="53" name="图片 52" descr="post_object_image_2742792054"/>
          <p:cNvPicPr>
            <a:picLocks noChangeAspect="1"/>
          </p:cNvPicPr>
          <p:nvPr/>
        </p:nvPicPr>
        <p:blipFill>
          <a:blip r:embed="rId11"/>
          <a:srcRect r="33935"/>
          <a:stretch>
            <a:fillRect/>
          </a:stretch>
        </p:blipFill>
        <p:spPr>
          <a:xfrm>
            <a:off x="4114657" y="5881899"/>
            <a:ext cx="3856006" cy="872903"/>
          </a:xfrm>
          <a:prstGeom prst="rect">
            <a:avLst/>
          </a:prstGeom>
        </p:spPr>
      </p:pic>
      <p:pic>
        <p:nvPicPr>
          <p:cNvPr id="56" name="图片 55" descr="post_object_image_306324750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05817" y="1147868"/>
            <a:ext cx="1150027" cy="1152313"/>
          </a:xfrm>
          <a:prstGeom prst="rect">
            <a:avLst/>
          </a:prstGeom>
        </p:spPr>
      </p:pic>
      <p:sp>
        <p:nvSpPr>
          <p:cNvPr id="57" name="文本框 56"/>
          <p:cNvSpPr txBox="1"/>
          <p:nvPr userDrawn="1"/>
        </p:nvSpPr>
        <p:spPr>
          <a:xfrm>
            <a:off x="5424714" y="1147868"/>
            <a:ext cx="2676192" cy="1228619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 sz="3600" b="1">
                <a:latin typeface="微软雅黑" charset="0"/>
                <a:ea typeface="微软雅黑" charset="0"/>
                <a:cs typeface="微软雅黑" charset="0"/>
              </a:rPr>
              <a:t>PeakChat</a:t>
            </a:r>
            <a:endParaRPr lang="en-US" altLang="zh-CN" sz="36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zh-CN" altLang="en-US" sz="2600" b="1">
                <a:latin typeface="微软雅黑" charset="0"/>
                <a:ea typeface="微软雅黑" charset="0"/>
                <a:cs typeface="微软雅黑" charset="0"/>
              </a:rPr>
              <a:t>本地高性能对话</a:t>
            </a:r>
            <a:endParaRPr lang="zh-CN" altLang="en-US" sz="2600" b="1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589</Words>
  <Application>WPS Office WWO_wpscloud_20251224173010-b51a25e58c</Application>
  <PresentationFormat>宽屏</PresentationFormat>
  <Paragraphs>45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汉仪旗黑KW 55S</vt:lpstr>
      <vt:lpstr>汉仪书宋二KW</vt:lpstr>
      <vt:lpstr>Kingsoft Confetti</vt:lpstr>
      <vt:lpstr>宋体</vt:lpstr>
      <vt:lpstr>微软雅黑</vt:lpstr>
      <vt:lpstr>Times New Roman</vt:lpstr>
      <vt:lpstr>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dcterms:created xsi:type="dcterms:W3CDTF">2026-01-07T09:41:22Z</dcterms:created>
  <dcterms:modified xsi:type="dcterms:W3CDTF">2026-01-07T09:41:22Z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2052-12.9.0.24678</vt:lpwstr>
  </property>
  <property fmtid="{D5CDD505-2E9C-101B-9397-08002B2CF9AE}" pid="3" name="ICV">
    <vt:lpwstr>B75C98F4C40948689CB49D1002CA5FAC</vt:lpwstr>
  </property>
</Properties>
</file>